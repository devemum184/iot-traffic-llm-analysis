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DM Sans" panose="020F0502020204030204" pitchFamily="2" charset="0"/>
      <p:regular r:id="rId13"/>
      <p:bold r:id="rId14"/>
      <p:italic r:id="rId15"/>
      <p:boldItalic r:id="rId16"/>
    </p:embeddedFont>
    <p:embeddedFont>
      <p:font typeface="Merriweather" panose="00000500000000000000" pitchFamily="2" charset="-52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54D2CA-C995-4F7A-9268-A8031E635ABD}">
  <a:tblStyle styleId="{1054D2CA-C995-4F7A-9268-A8031E635AB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1152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71500" y="3794521"/>
            <a:ext cx="11049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Классификация вредоносного трафика в IoT сетях</a:t>
            </a:r>
            <a:endParaRPr sz="2500"/>
          </a:p>
        </p:txBody>
      </p:sp>
      <p:sp>
        <p:nvSpPr>
          <p:cNvPr id="85" name="Google Shape;85;p13"/>
          <p:cNvSpPr txBox="1"/>
          <p:nvPr/>
        </p:nvSpPr>
        <p:spPr>
          <a:xfrm>
            <a:off x="295275" y="571500"/>
            <a:ext cx="11601450" cy="173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Генерация</a:t>
            </a:r>
            <a:r>
              <a:rPr lang="en-US" sz="5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54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программ</a:t>
            </a:r>
            <a:r>
              <a:rPr lang="en-US" sz="5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54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анализа</a:t>
            </a:r>
            <a:r>
              <a:rPr lang="en-US" sz="5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54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трафика</a:t>
            </a:r>
            <a:r>
              <a:rPr lang="en-US" sz="5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с </a:t>
            </a:r>
            <a:r>
              <a:rPr lang="en-US" sz="54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помощью</a:t>
            </a:r>
            <a:r>
              <a:rPr lang="en-US" sz="5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LLM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137800" y="2582350"/>
            <a:ext cx="8572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Безопасность систем Интернета вещей и киберфизических систем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381625" y="2421284"/>
            <a:ext cx="142875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305451" y="1227034"/>
            <a:ext cx="958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Цел</a:t>
            </a:r>
            <a:r>
              <a:rPr lang="en-US" sz="4800" b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ь </a:t>
            </a:r>
            <a:r>
              <a:rPr lang="en-US" sz="4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исследования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345125" y="3184609"/>
            <a:ext cx="7620000" cy="14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Проверка гипотезы: способна ли современная LLM создать эффективное приложение для обнаружения вторжений на основе текстового промпта?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92734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76575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53755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30935"/>
            <a:ext cx="3143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Методология и выбор данных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1000125" y="2549872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Датасет: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IoT Intrusion Dataset (Kaggle).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000125" y="3033712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Инструментарий: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Python, Scikit-learn, Pandas, Kagglehub.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000125" y="3810892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Сценарий: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Сравнение ручного Baseline (Random Forest) и двух решений от LLM.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000125" y="4588073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Автоматизация: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Скрипты для быстрой загрузки и предобработки.</a:t>
            </a:r>
            <a:endParaRPr/>
          </a:p>
        </p:txBody>
      </p:sp>
      <p:pic>
        <p:nvPicPr>
          <p:cNvPr id="108" name="Google Shape;108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55825" y="2010125"/>
            <a:ext cx="4943100" cy="370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99382"/>
            <a:ext cx="3492549" cy="3364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199382"/>
            <a:ext cx="3492549" cy="3364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199382"/>
            <a:ext cx="3492549" cy="3364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74262" y="2580382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Проектирование промптов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1002486" y="2733532"/>
            <a:ext cx="2867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Ролевая модель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002475" y="3506232"/>
            <a:ext cx="2730600" cy="1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Указание роли "Expert in Cybersecurity &amp; ML" для задания контекста и стандартов кода.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662522" y="2733532"/>
            <a:ext cx="2867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Ограничения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730799" y="3370957"/>
            <a:ext cx="2730549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Запрет на использование get_dummies для предотвращения утечки памяти на больших данных.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322585" y="2723632"/>
            <a:ext cx="2867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Мультиязычность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459074" y="3370957"/>
            <a:ext cx="2730600" cy="9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Сравнение качества кода при использовании русских и английских инструкций.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571500" y="1714500"/>
            <a:ext cx="52006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LLM Approach 1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71500" y="2619375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Hist Gradient Boosting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71500" y="3048000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Модель была выбрана LLM как наиболее подходящая для работы с несбалансированными табличными данными большого объема.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71500" y="434712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Преимущества: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в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ысокая скорость обучения и встроенная поддержка пропущенных значений.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1738312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742283"/>
            <a:ext cx="523875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800" y="1757362"/>
            <a:ext cx="4248150" cy="424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LLM Approach 2: Нейронная сеть</a:t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6381750" y="222408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Multi-Layer Perceptron (MLP)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6381750" y="2652712"/>
            <a:ext cx="5238900" cy="9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Классический подход глубокого обучения. LLM предложила архитектуру с двумя скрытыми слоями (100, 50 нейронов). 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6381750" y="4742408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Метрика F1 использовалась для оценки баланса точности и полноты.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8228338" y="3918263"/>
            <a:ext cx="1807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F1=2*(P*R)/(P+R)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/>
          <p:nvPr/>
        </p:nvSpPr>
        <p:spPr>
          <a:xfrm>
            <a:off x="571500" y="2661344"/>
            <a:ext cx="11049000" cy="244018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" name="Google Shape;152;p19"/>
          <p:cNvGraphicFramePr/>
          <p:nvPr/>
        </p:nvGraphicFramePr>
        <p:xfrm>
          <a:off x="571500" y="2661344"/>
          <a:ext cx="11049000" cy="2440200"/>
        </p:xfrm>
        <a:graphic>
          <a:graphicData uri="http://schemas.openxmlformats.org/drawingml/2006/table">
            <a:tbl>
              <a:tblPr firstRow="1" bandRow="1">
                <a:noFill/>
                <a:tableStyleId>{1054D2CA-C995-4F7A-9268-A8031E635ABD}</a:tableStyleId>
              </a:tblPr>
              <a:tblGrid>
                <a:gridCol w="213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5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Модель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Алгоритм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Macro F1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Weighted F1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Baseline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Random Forest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99.30%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0.73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LLM Model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Hist Gradient Boosting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96.57%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0.57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LLM Model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MLP (Neural Network)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98.49%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0.67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3" name="Google Shape;153;p19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Количественные результаты</a:t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571500" y="3910012"/>
            <a:ext cx="21300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2701528" y="3910012"/>
            <a:ext cx="33880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6089600" y="3910012"/>
            <a:ext cx="17811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7870775" y="3910012"/>
            <a:ext cx="16442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9515028" y="3910012"/>
            <a:ext cx="2105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571500" y="4498627"/>
            <a:ext cx="21300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2701528" y="4498627"/>
            <a:ext cx="33880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6089600" y="4498627"/>
            <a:ext cx="17811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7870775" y="4498627"/>
            <a:ext cx="16442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9515028" y="4498627"/>
            <a:ext cx="2105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571500" y="5087242"/>
            <a:ext cx="21300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2701528" y="5087242"/>
            <a:ext cx="33880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6089600" y="5087242"/>
            <a:ext cx="17811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7870775" y="5087242"/>
            <a:ext cx="16442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9515028" y="5087242"/>
            <a:ext cx="2105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76375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Визуальное сравнение Accuracy</a:t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571500" y="496341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Несмотря на высокую общую точность, модели различаются в способности обнаруживать редкие атаки.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99394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76575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53755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30935"/>
            <a:ext cx="3143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Ключевые выводы</a:t>
            </a:r>
            <a:endParaRPr/>
          </a:p>
        </p:txBody>
      </p:sp>
      <p:sp>
        <p:nvSpPr>
          <p:cNvPr id="187" name="Google Shape;187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1000125" y="2256532"/>
            <a:ext cx="4810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DDoS: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в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се модели идеально выявляют массовые атаки (ICMP/UDP Flood).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1000125" y="3033712"/>
            <a:ext cx="4810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Дисбаланс: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р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едкие атаки (XSS, SQLi) игнорируются кодом LLM без доп. настройки.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1000125" y="3810892"/>
            <a:ext cx="4810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Эффективность: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LLM сокращает время разработки с </a:t>
            </a:r>
            <a:r>
              <a:rPr lang="en-US" sz="165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нескольких 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часов до минут.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1000125" y="4588073"/>
            <a:ext cx="4810200" cy="9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Роль эксперта: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н</a:t>
            </a:r>
            <a:r>
              <a:rPr lang="en-US" sz="16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еобходим контроль человека для исправления ошибок памяти и тюнинга весов классов.</a:t>
            </a:r>
            <a:endParaRPr/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76100" y="1666875"/>
            <a:ext cx="4630927" cy="4630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/>
        </p:nvSpPr>
        <p:spPr>
          <a:xfrm>
            <a:off x="295275" y="2621025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Спасибо за внимание!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</Words>
  <Application>Microsoft Office PowerPoint</Application>
  <PresentationFormat>Широкоэкранный</PresentationFormat>
  <Paragraphs>55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Calibri</vt:lpstr>
      <vt:lpstr>DM Sans</vt:lpstr>
      <vt:lpstr>Merriweather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Администратор Admin</cp:lastModifiedBy>
  <cp:revision>1</cp:revision>
  <dcterms:modified xsi:type="dcterms:W3CDTF">2026-07-07T11:15:53Z</dcterms:modified>
</cp:coreProperties>
</file>